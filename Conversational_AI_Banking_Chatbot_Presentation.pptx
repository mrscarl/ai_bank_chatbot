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1" r:id="rId1"/>
  </p:sldMasterIdLst>
  <p:sldIdLst>
    <p:sldId id="266" r:id="rId2"/>
    <p:sldId id="256" r:id="rId3"/>
    <p:sldId id="257" r:id="rId4"/>
    <p:sldId id="262" r:id="rId5"/>
    <p:sldId id="263" r:id="rId6"/>
    <p:sldId id="264" r:id="rId7"/>
    <p:sldId id="265" r:id="rId8"/>
    <p:sldId id="258" r:id="rId9"/>
    <p:sldId id="267" r:id="rId10"/>
    <p:sldId id="268" r:id="rId11"/>
    <p:sldId id="269" r:id="rId12"/>
    <p:sldId id="270" r:id="rId13"/>
    <p:sldId id="260" r:id="rId14"/>
    <p:sldId id="26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761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46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39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32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13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16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83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415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31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10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904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28254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1021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671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8348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51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557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24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8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  <p:sldLayoutId id="2147483817" r:id="rId16"/>
    <p:sldLayoutId id="2147483818" r:id="rId17"/>
    <p:sldLayoutId id="2147483819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anjalps03@gmail.com" TargetMode="External"/><Relationship Id="rId2" Type="http://schemas.openxmlformats.org/officeDocument/2006/relationships/hyperlink" Target="mailto:jeshmamariaveigas@gmail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apekshaa.gaikwad20@gmail.com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A2E0F-BCCB-DB37-00D9-36EEE9A2B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6177" y="2309565"/>
            <a:ext cx="5654119" cy="1517715"/>
          </a:xfrm>
        </p:spPr>
        <p:txBody>
          <a:bodyPr/>
          <a:lstStyle/>
          <a:p>
            <a:r>
              <a:rPr lang="en-US" sz="4400" dirty="0">
                <a:latin typeface="Georgia" panose="02040502050405020303" pitchFamily="18" charset="0"/>
              </a:rPr>
              <a:t>Conversational AI Chatbot</a:t>
            </a:r>
            <a:endParaRPr lang="en-AE" dirty="0">
              <a:latin typeface="Georgia" panose="02040502050405020303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6A9D28-D056-7E69-86D8-1D9172BBC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081831"/>
              </p:ext>
            </p:extLst>
          </p:nvPr>
        </p:nvGraphicFramePr>
        <p:xfrm>
          <a:off x="351933" y="4524867"/>
          <a:ext cx="8440133" cy="14192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13378">
                  <a:extLst>
                    <a:ext uri="{9D8B030D-6E8A-4147-A177-3AD203B41FA5}">
                      <a16:colId xmlns:a16="http://schemas.microsoft.com/office/drawing/2014/main" val="1848646110"/>
                    </a:ext>
                  </a:extLst>
                </a:gridCol>
                <a:gridCol w="2990392">
                  <a:extLst>
                    <a:ext uri="{9D8B030D-6E8A-4147-A177-3AD203B41FA5}">
                      <a16:colId xmlns:a16="http://schemas.microsoft.com/office/drawing/2014/main" val="695642090"/>
                    </a:ext>
                  </a:extLst>
                </a:gridCol>
                <a:gridCol w="2636363">
                  <a:extLst>
                    <a:ext uri="{9D8B030D-6E8A-4147-A177-3AD203B41FA5}">
                      <a16:colId xmlns:a16="http://schemas.microsoft.com/office/drawing/2014/main" val="4114991187"/>
                    </a:ext>
                  </a:extLst>
                </a:gridCol>
              </a:tblGrid>
              <a:tr h="306686"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Members of Team 1</a:t>
                      </a:r>
                      <a:endParaRPr lang="en-AE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28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Jeshma Maria </a:t>
                      </a:r>
                      <a:r>
                        <a:rPr lang="en-US" sz="1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Veigas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dirty="0">
                          <a:solidFill>
                            <a:srgbClr val="1155CC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hlinkClick r:id="rId2"/>
                        </a:rPr>
                        <a:t>jeshmamariaveigas@gmail.com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AE" sz="1400" dirty="0">
                          <a:effectLst/>
                        </a:rPr>
                        <a:t>9535320043/+971503480719</a:t>
                      </a:r>
                      <a:endParaRPr lang="en-A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82129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Sanjal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P S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dirty="0">
                          <a:solidFill>
                            <a:srgbClr val="1155CC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hlinkClick r:id="rId3"/>
                        </a:rPr>
                        <a:t>sanjalps03@gmail.com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AE" sz="1400">
                          <a:effectLst/>
                        </a:rPr>
                        <a:t>8431642531</a:t>
                      </a:r>
                      <a:endParaRPr lang="en-A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1248157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Apeksha Sachin Gaikwad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dirty="0">
                          <a:solidFill>
                            <a:srgbClr val="1155CC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hlinkClick r:id="rId4"/>
                        </a:rPr>
                        <a:t>apekshaa.gaikwad20@gmail.com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AE" sz="1400" dirty="0">
                          <a:effectLst/>
                        </a:rPr>
                        <a:t>9527731830</a:t>
                      </a:r>
                      <a:endParaRPr lang="en-A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814227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087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2901"/>
            <a:ext cx="9144000" cy="1143000"/>
          </a:xfrm>
        </p:spPr>
        <p:txBody>
          <a:bodyPr>
            <a:normAutofit fontScale="90000"/>
          </a:bodyPr>
          <a:lstStyle/>
          <a:p>
            <a:r>
              <a:rPr sz="3200" b="1" dirty="0">
                <a:latin typeface="Georgia" panose="02040502050405020303" pitchFamily="18" charset="0"/>
              </a:rPr>
              <a:t>Building a Conversational AI Chatbot for Banking Customer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040" y="1517715"/>
            <a:ext cx="8158899" cy="47982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cap="none" dirty="0">
                <a:latin typeface="Georgia" panose="02040502050405020303" pitchFamily="18" charset="0"/>
              </a:rPr>
              <a:t>Objective</a:t>
            </a:r>
            <a:r>
              <a:rPr lang="en-US" sz="1800" cap="none" dirty="0">
                <a:latin typeface="Georgia" panose="02040502050405020303" pitchFamily="18" charset="0"/>
              </a:rPr>
              <a:t>:</a:t>
            </a:r>
          </a:p>
          <a:p>
            <a:r>
              <a:rPr lang="en-US" sz="1800" cap="none" dirty="0">
                <a:latin typeface="Georgia" panose="02040502050405020303" pitchFamily="18" charset="0"/>
              </a:rPr>
              <a:t>- Develop a context-aware AI chat bot using transformer models for banking support.</a:t>
            </a:r>
          </a:p>
          <a:p>
            <a:pPr marL="0" indent="0">
              <a:buNone/>
            </a:pPr>
            <a:r>
              <a:rPr lang="en-US" sz="1800" b="1" cap="none" dirty="0">
                <a:latin typeface="Georgia" panose="02040502050405020303" pitchFamily="18" charset="0"/>
              </a:rPr>
              <a:t>Key features:</a:t>
            </a:r>
          </a:p>
          <a:p>
            <a:r>
              <a:rPr lang="en-US" sz="1800" cap="none" dirty="0">
                <a:latin typeface="Georgia" panose="02040502050405020303" pitchFamily="18" charset="0"/>
              </a:rPr>
              <a:t>- Understands customer queries</a:t>
            </a:r>
          </a:p>
          <a:p>
            <a:r>
              <a:rPr lang="en-US" sz="1800" cap="none" dirty="0">
                <a:latin typeface="Georgia" panose="02040502050405020303" pitchFamily="18" charset="0"/>
              </a:rPr>
              <a:t>- Retrieves relevant banking information</a:t>
            </a:r>
          </a:p>
          <a:p>
            <a:r>
              <a:rPr lang="en-US" sz="1800" cap="none" dirty="0">
                <a:latin typeface="Georgia" panose="02040502050405020303" pitchFamily="18" charset="0"/>
              </a:rPr>
              <a:t>- Responds in natural language</a:t>
            </a:r>
          </a:p>
          <a:p>
            <a:r>
              <a:rPr lang="en-US" sz="1800" cap="none" dirty="0">
                <a:latin typeface="Georgia" panose="02040502050405020303" pitchFamily="18" charset="0"/>
              </a:rPr>
              <a:t>- Handles multiple intents and entities</a:t>
            </a:r>
          </a:p>
          <a:p>
            <a:pPr marL="0" indent="0">
              <a:buNone/>
            </a:pPr>
            <a:r>
              <a:rPr lang="en-US" sz="1800" b="1" cap="none" dirty="0">
                <a:latin typeface="Georgia" panose="02040502050405020303" pitchFamily="18" charset="0"/>
              </a:rPr>
              <a:t>Tech stack:</a:t>
            </a:r>
          </a:p>
          <a:p>
            <a:r>
              <a:rPr lang="en-US" sz="1800" cap="none" dirty="0">
                <a:latin typeface="Georgia" panose="02040502050405020303" pitchFamily="18" charset="0"/>
              </a:rPr>
              <a:t>- Python, hugging face transformers, </a:t>
            </a:r>
            <a:r>
              <a:rPr lang="en-US" sz="1800" cap="none" dirty="0" err="1">
                <a:latin typeface="Georgia" panose="02040502050405020303" pitchFamily="18" charset="0"/>
              </a:rPr>
              <a:t>pytorch</a:t>
            </a:r>
            <a:endParaRPr lang="en-US" sz="1800" cap="none" dirty="0">
              <a:latin typeface="Georgia" panose="02040502050405020303" pitchFamily="18" charset="0"/>
            </a:endParaRPr>
          </a:p>
          <a:p>
            <a:r>
              <a:rPr lang="en-US" sz="1800" cap="none" dirty="0">
                <a:latin typeface="Georgia" panose="02040502050405020303" pitchFamily="18" charset="0"/>
              </a:rPr>
              <a:t>- Dataset: 50K labeled banking conversations</a:t>
            </a:r>
          </a:p>
          <a:p>
            <a:r>
              <a:rPr lang="en-US" sz="1800" cap="none" dirty="0">
                <a:latin typeface="Georgia" panose="02040502050405020303" pitchFamily="18" charset="0"/>
              </a:rPr>
              <a:t>- Tools: </a:t>
            </a:r>
            <a:r>
              <a:rPr lang="en-US" sz="1800" cap="none" dirty="0" err="1">
                <a:latin typeface="Georgia" panose="02040502050405020303" pitchFamily="18" charset="0"/>
              </a:rPr>
              <a:t>jupyter</a:t>
            </a:r>
            <a:r>
              <a:rPr lang="en-US" sz="1800" cap="none" dirty="0">
                <a:latin typeface="Georgia" panose="02040502050405020303" pitchFamily="18" charset="0"/>
              </a:rPr>
              <a:t> notebook, </a:t>
            </a:r>
            <a:r>
              <a:rPr lang="en-US" sz="1800" cap="none" dirty="0" err="1">
                <a:latin typeface="Georgia" panose="02040502050405020303" pitchFamily="18" charset="0"/>
              </a:rPr>
              <a:t>cuda</a:t>
            </a:r>
            <a:r>
              <a:rPr lang="en-US" sz="1800" cap="none" dirty="0">
                <a:latin typeface="Georgia" panose="02040502050405020303" pitchFamily="18" charset="0"/>
              </a:rPr>
              <a:t>-enabled GPU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  <a:ext cx="9144000" cy="782250"/>
          </a:xfrm>
        </p:spPr>
        <p:txBody>
          <a:bodyPr>
            <a:normAutofit fontScale="90000"/>
          </a:bodyPr>
          <a:lstStyle/>
          <a:p>
            <a:r>
              <a:rPr b="1" dirty="0">
                <a:latin typeface="Georgia" panose="02040502050405020303" pitchFamily="18" charset="0"/>
              </a:rPr>
              <a:t>Data Preparation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68544"/>
            <a:ext cx="7239000" cy="4787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cap="none" dirty="0">
                <a:latin typeface="Georgia" panose="02040502050405020303" pitchFamily="18" charset="0"/>
              </a:rPr>
              <a:t>Step 1: Dataset Cleaning</a:t>
            </a:r>
          </a:p>
          <a:p>
            <a:r>
              <a:rPr lang="en-US" sz="1800" cap="none" dirty="0">
                <a:latin typeface="Georgia" panose="02040502050405020303" pitchFamily="18" charset="0"/>
              </a:rPr>
              <a:t>- Removed null entries, special characters, and duplicates</a:t>
            </a:r>
          </a:p>
          <a:p>
            <a:r>
              <a:rPr lang="en-US" sz="1800" cap="none" dirty="0">
                <a:latin typeface="Georgia" panose="02040502050405020303" pitchFamily="18" charset="0"/>
              </a:rPr>
              <a:t>- Lowercased all text</a:t>
            </a:r>
          </a:p>
          <a:p>
            <a:pPr marL="0" indent="0">
              <a:buNone/>
            </a:pPr>
            <a:r>
              <a:rPr lang="en-US" sz="1800" b="1" cap="none" dirty="0">
                <a:latin typeface="Georgia" panose="02040502050405020303" pitchFamily="18" charset="0"/>
              </a:rPr>
              <a:t>Step 2: Tokenization</a:t>
            </a:r>
          </a:p>
          <a:p>
            <a:r>
              <a:rPr lang="en-US" sz="1800" cap="none" dirty="0">
                <a:latin typeface="Georgia" panose="02040502050405020303" pitchFamily="18" charset="0"/>
              </a:rPr>
              <a:t>- Used </a:t>
            </a:r>
            <a:r>
              <a:rPr lang="en-US" sz="1800" cap="none" dirty="0" err="1">
                <a:latin typeface="Georgia" panose="02040502050405020303" pitchFamily="18" charset="0"/>
              </a:rPr>
              <a:t>bert</a:t>
            </a:r>
            <a:r>
              <a:rPr lang="en-US" sz="1800" cap="none" dirty="0">
                <a:latin typeface="Georgia" panose="02040502050405020303" pitchFamily="18" charset="0"/>
              </a:rPr>
              <a:t> tokenizer, applied padding and truncation</a:t>
            </a:r>
          </a:p>
          <a:p>
            <a:pPr marL="0" indent="0">
              <a:buNone/>
            </a:pPr>
            <a:r>
              <a:rPr lang="en-US" sz="1800" b="1" cap="none" dirty="0">
                <a:latin typeface="Georgia" panose="02040502050405020303" pitchFamily="18" charset="0"/>
              </a:rPr>
              <a:t>Step 3: Intent &amp; Entity Mapping</a:t>
            </a:r>
          </a:p>
          <a:p>
            <a:r>
              <a:rPr lang="en-US" sz="1800" cap="none" dirty="0">
                <a:latin typeface="Georgia" panose="02040502050405020303" pitchFamily="18" charset="0"/>
              </a:rPr>
              <a:t>- Mapped intents to labels, used spacy for entities</a:t>
            </a:r>
          </a:p>
          <a:p>
            <a:r>
              <a:rPr lang="en-US" sz="1800" cap="none" dirty="0">
                <a:latin typeface="Georgia" panose="02040502050405020303" pitchFamily="18" charset="0"/>
              </a:rPr>
              <a:t>For unknow intents we used Logistic Regression to classify the intent.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53173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1978"/>
            <a:ext cx="7239000" cy="5503758"/>
          </a:xfrm>
        </p:spPr>
        <p:txBody>
          <a:bodyPr/>
          <a:lstStyle/>
          <a:p>
            <a:r>
              <a:rPr lang="en-US" cap="none" dirty="0">
                <a:latin typeface="Georgia" panose="02040502050405020303" pitchFamily="18" charset="0"/>
              </a:rPr>
              <a:t>Distribution of intents in dataset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241" y="1574793"/>
            <a:ext cx="6878007" cy="4103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0514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39"/>
            <a:ext cx="7239000" cy="6551112"/>
          </a:xfrm>
        </p:spPr>
        <p:txBody>
          <a:bodyPr>
            <a:normAutofit/>
          </a:bodyPr>
          <a:lstStyle/>
          <a:p>
            <a:r>
              <a:rPr lang="en-US" sz="2800" b="1" cap="none" dirty="0">
                <a:latin typeface="Georgia" panose="02040502050405020303" pitchFamily="18" charset="0"/>
              </a:rPr>
              <a:t>Text length distribution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US" sz="2400" b="1" cap="none" dirty="0">
                <a:latin typeface="Georgia" panose="02040502050405020303" pitchFamily="18" charset="0"/>
              </a:rPr>
              <a:t>Top 10 most common words(unigrams)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195" y="144049"/>
            <a:ext cx="3726550" cy="2456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3070" y="3153295"/>
            <a:ext cx="6113282" cy="3253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7297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2942"/>
            <a:ext cx="8309728" cy="6242794"/>
          </a:xfrm>
        </p:spPr>
        <p:txBody>
          <a:bodyPr>
            <a:normAutofit/>
          </a:bodyPr>
          <a:lstStyle/>
          <a:p>
            <a:r>
              <a:rPr lang="en-US" sz="2400" b="1" cap="none" dirty="0">
                <a:latin typeface="Georgia" panose="02040502050405020303" pitchFamily="18" charset="0"/>
              </a:rPr>
              <a:t>Top 10 most common 2-words phrases(bigrams)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3600" dirty="0"/>
          </a:p>
          <a:p>
            <a:r>
              <a:rPr lang="en-US" sz="2400" b="1" cap="none" dirty="0">
                <a:latin typeface="Georgia" panose="02040502050405020303" pitchFamily="18" charset="0"/>
              </a:rPr>
              <a:t>Top 10 most common 3-words phrases(trigrams)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688" y="717048"/>
            <a:ext cx="5094624" cy="252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688" y="3793131"/>
            <a:ext cx="5835071" cy="2662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4666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2942"/>
            <a:ext cx="7239000" cy="6242794"/>
          </a:xfrm>
        </p:spPr>
        <p:txBody>
          <a:bodyPr>
            <a:normAutofit/>
          </a:bodyPr>
          <a:lstStyle/>
          <a:p>
            <a:r>
              <a:rPr lang="en-US" sz="2800" b="1" cap="none" dirty="0">
                <a:latin typeface="Georgia" panose="02040502050405020303" pitchFamily="18" charset="0"/>
              </a:rPr>
              <a:t>Entity types distribution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321" y="1182503"/>
            <a:ext cx="6140336" cy="373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6131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144000" cy="801666"/>
          </a:xfrm>
        </p:spPr>
        <p:txBody>
          <a:bodyPr>
            <a:noAutofit/>
          </a:bodyPr>
          <a:lstStyle/>
          <a:p>
            <a:r>
              <a:rPr b="1" dirty="0">
                <a:latin typeface="Georgia" panose="02040502050405020303" pitchFamily="18" charset="0"/>
              </a:rPr>
              <a:t>Model Building &amp; Fine-Tuning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1978"/>
            <a:ext cx="7239000" cy="55037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cap="none" dirty="0">
                <a:latin typeface="Georgia" panose="02040502050405020303" pitchFamily="18" charset="0"/>
              </a:rPr>
              <a:t>Model Used:</a:t>
            </a:r>
            <a:endParaRPr lang="en-US" altLang="en-US" cap="none" dirty="0">
              <a:latin typeface="Georgia" panose="020405020504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b="1" cap="none" dirty="0">
                <a:latin typeface="Georgia" panose="02040502050405020303" pitchFamily="18" charset="0"/>
              </a:rPr>
              <a:t>BERT: </a:t>
            </a:r>
            <a:r>
              <a:rPr lang="en-US" altLang="en-US" sz="1600" cap="none" dirty="0">
                <a:latin typeface="Georgia" panose="02040502050405020303" pitchFamily="18" charset="0"/>
              </a:rPr>
              <a:t>Used for classifying user intents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b="1" cap="none" dirty="0">
                <a:latin typeface="Georgia" panose="02040502050405020303" pitchFamily="18" charset="0"/>
              </a:rPr>
              <a:t>GPT-2: </a:t>
            </a:r>
            <a:r>
              <a:rPr lang="en-US" altLang="en-US" sz="1600" cap="none" dirty="0">
                <a:latin typeface="Georgia" panose="02040502050405020303" pitchFamily="18" charset="0"/>
              </a:rPr>
              <a:t>Utilized for generating responses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b="1" cap="none" dirty="0" err="1">
                <a:latin typeface="Georgia" panose="02040502050405020303" pitchFamily="18" charset="0"/>
              </a:rPr>
              <a:t>RoBERTa</a:t>
            </a:r>
            <a:r>
              <a:rPr lang="en-US" altLang="en-US" sz="1600" b="1" cap="none" dirty="0">
                <a:latin typeface="Georgia" panose="02040502050405020303" pitchFamily="18" charset="0"/>
              </a:rPr>
              <a:t>: </a:t>
            </a:r>
            <a:r>
              <a:rPr lang="en-US" altLang="en-US" sz="1600" cap="none" dirty="0">
                <a:latin typeface="Georgia" panose="02040502050405020303" pitchFamily="18" charset="0"/>
              </a:rPr>
              <a:t>Applied for intent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b="1" cap="none" dirty="0" err="1">
                <a:latin typeface="Georgia" panose="02040502050405020303" pitchFamily="18" charset="0"/>
              </a:rPr>
              <a:t>DistilBERT</a:t>
            </a:r>
            <a:r>
              <a:rPr lang="en-US" altLang="en-US" sz="1600" b="1" cap="none" dirty="0">
                <a:latin typeface="Georgia" panose="02040502050405020303" pitchFamily="18" charset="0"/>
              </a:rPr>
              <a:t>: </a:t>
            </a:r>
            <a:r>
              <a:rPr lang="en-US" altLang="en-US" sz="1600" cap="none" dirty="0">
                <a:latin typeface="Georgia" panose="02040502050405020303" pitchFamily="18" charset="0"/>
              </a:rPr>
              <a:t>Leveraged for identifying user intents</a:t>
            </a:r>
          </a:p>
          <a:p>
            <a:pPr marL="0" indent="0">
              <a:buNone/>
            </a:pPr>
            <a:r>
              <a:rPr lang="en-US" sz="1800" b="1" cap="none" dirty="0">
                <a:latin typeface="Georgia" panose="02040502050405020303" pitchFamily="18" charset="0"/>
              </a:rPr>
              <a:t>Common Errors:</a:t>
            </a:r>
          </a:p>
          <a:p>
            <a:r>
              <a:rPr lang="en-US" sz="1600" cap="none" dirty="0">
                <a:latin typeface="Georgia" panose="02040502050405020303" pitchFamily="18" charset="0"/>
              </a:rPr>
              <a:t>- CUDA Out Of Memory</a:t>
            </a:r>
          </a:p>
          <a:p>
            <a:r>
              <a:rPr lang="en-US" sz="1600" cap="none" dirty="0">
                <a:latin typeface="Georgia" panose="02040502050405020303" pitchFamily="18" charset="0"/>
              </a:rPr>
              <a:t>- Incorrect Label Count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1600" cap="none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US" b="1" cap="none" dirty="0">
                <a:latin typeface="Georgia" panose="02040502050405020303" pitchFamily="18" charset="0"/>
              </a:rPr>
              <a:t>Code Sample: Bert</a:t>
            </a:r>
          </a:p>
          <a:p>
            <a:endParaRPr lang="en-US" sz="1800" cap="none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US" sz="1800" cap="none" dirty="0">
              <a:latin typeface="Georgia" panose="020405020504050203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06BE3C-6C84-42D1-7A8D-CF4A2623C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74" y="5155658"/>
            <a:ext cx="6500977" cy="10377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9704B-769C-0FE3-5281-0B29A99BF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30" y="236637"/>
            <a:ext cx="7773339" cy="6446967"/>
          </a:xfrm>
        </p:spPr>
        <p:txBody>
          <a:bodyPr/>
          <a:lstStyle/>
          <a:p>
            <a:r>
              <a:rPr lang="en-US" b="1" cap="none" dirty="0">
                <a:latin typeface="Georgia" panose="02040502050405020303" pitchFamily="18" charset="0"/>
              </a:rPr>
              <a:t>Code Sample: Fine-Tune </a:t>
            </a:r>
            <a:r>
              <a:rPr lang="en-US" b="1" cap="none" dirty="0" err="1">
                <a:latin typeface="Georgia" panose="02040502050405020303" pitchFamily="18" charset="0"/>
              </a:rPr>
              <a:t>DistilBert</a:t>
            </a:r>
            <a:endParaRPr lang="en-US" b="1" cap="none" dirty="0">
              <a:latin typeface="Georgia" panose="02040502050405020303" pitchFamily="18" charset="0"/>
            </a:endParaRPr>
          </a:p>
          <a:p>
            <a:endParaRPr lang="en-US" b="1" cap="none" dirty="0">
              <a:latin typeface="Georgia" panose="02040502050405020303" pitchFamily="18" charset="0"/>
            </a:endParaRPr>
          </a:p>
          <a:p>
            <a:endParaRPr lang="en-US" b="1" cap="none" dirty="0">
              <a:latin typeface="Georgia" panose="02040502050405020303" pitchFamily="18" charset="0"/>
            </a:endParaRPr>
          </a:p>
          <a:p>
            <a:endParaRPr lang="en-US" b="1" cap="none" dirty="0">
              <a:latin typeface="Georgia" panose="02040502050405020303" pitchFamily="18" charset="0"/>
            </a:endParaRPr>
          </a:p>
          <a:p>
            <a:endParaRPr lang="en-US" b="1" cap="none" dirty="0">
              <a:latin typeface="Georgia" panose="02040502050405020303" pitchFamily="18" charset="0"/>
            </a:endParaRPr>
          </a:p>
          <a:p>
            <a:r>
              <a:rPr lang="en-US" b="1" cap="none" dirty="0">
                <a:latin typeface="Georgia" panose="02040502050405020303" pitchFamily="18" charset="0"/>
              </a:rPr>
              <a:t>Code Sample: Chat-GPT 2</a:t>
            </a:r>
          </a:p>
          <a:p>
            <a:endParaRPr lang="en-US" b="1" cap="none" dirty="0">
              <a:latin typeface="Georgia" panose="02040502050405020303" pitchFamily="18" charset="0"/>
            </a:endParaRPr>
          </a:p>
          <a:p>
            <a:endParaRPr lang="en-US" b="1" cap="none" dirty="0">
              <a:latin typeface="Georgia" panose="02040502050405020303" pitchFamily="18" charset="0"/>
            </a:endParaRPr>
          </a:p>
          <a:p>
            <a:endParaRPr lang="en-US" b="1" cap="none" dirty="0">
              <a:latin typeface="Georgia" panose="02040502050405020303" pitchFamily="18" charset="0"/>
            </a:endParaRPr>
          </a:p>
          <a:p>
            <a:endParaRPr lang="en-US" b="1" cap="none" dirty="0">
              <a:latin typeface="Georgia" panose="02040502050405020303" pitchFamily="18" charset="0"/>
            </a:endParaRPr>
          </a:p>
          <a:p>
            <a:r>
              <a:rPr lang="en-US" b="1" cap="none" dirty="0">
                <a:latin typeface="Georgia" panose="02040502050405020303" pitchFamily="18" charset="0"/>
              </a:rPr>
              <a:t>Code Sample: Roberta</a:t>
            </a:r>
          </a:p>
          <a:p>
            <a:endParaRPr lang="en-US" b="1" cap="none" dirty="0">
              <a:latin typeface="Georgia" panose="02040502050405020303" pitchFamily="18" charset="0"/>
            </a:endParaRPr>
          </a:p>
          <a:p>
            <a:endParaRPr lang="en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9C741E-D674-ADDF-7933-2DCDA97BEC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40"/>
          <a:stretch/>
        </p:blipFill>
        <p:spPr>
          <a:xfrm>
            <a:off x="613613" y="716438"/>
            <a:ext cx="7087214" cy="19648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74EAC7-2670-8B23-582C-71AE520A1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13" y="3161121"/>
            <a:ext cx="6607113" cy="19280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817045-D248-8A9A-07BA-A8F96027D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613" y="5568949"/>
            <a:ext cx="7102455" cy="11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259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CF739-DE6D-943D-1453-E4A1D5A3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746" y="81189"/>
            <a:ext cx="7773338" cy="623995"/>
          </a:xfrm>
        </p:spPr>
        <p:txBody>
          <a:bodyPr/>
          <a:lstStyle/>
          <a:p>
            <a:r>
              <a:rPr lang="en-US" sz="3600" b="1" cap="none" dirty="0">
                <a:latin typeface="Georgia" panose="02040502050405020303" pitchFamily="18" charset="0"/>
              </a:rPr>
              <a:t>Evaluation &amp; Metrics</a:t>
            </a:r>
            <a:endParaRPr lang="en-AE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73C89E-2120-3300-5484-BA5167F9B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845435"/>
              </p:ext>
            </p:extLst>
          </p:nvPr>
        </p:nvGraphicFramePr>
        <p:xfrm>
          <a:off x="80127" y="772843"/>
          <a:ext cx="8983745" cy="29347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548">
                  <a:extLst>
                    <a:ext uri="{9D8B030D-6E8A-4147-A177-3AD203B41FA5}">
                      <a16:colId xmlns:a16="http://schemas.microsoft.com/office/drawing/2014/main" val="1734584097"/>
                    </a:ext>
                  </a:extLst>
                </a:gridCol>
                <a:gridCol w="931881">
                  <a:extLst>
                    <a:ext uri="{9D8B030D-6E8A-4147-A177-3AD203B41FA5}">
                      <a16:colId xmlns:a16="http://schemas.microsoft.com/office/drawing/2014/main" val="2929250273"/>
                    </a:ext>
                  </a:extLst>
                </a:gridCol>
                <a:gridCol w="888520">
                  <a:extLst>
                    <a:ext uri="{9D8B030D-6E8A-4147-A177-3AD203B41FA5}">
                      <a16:colId xmlns:a16="http://schemas.microsoft.com/office/drawing/2014/main" val="527668570"/>
                    </a:ext>
                  </a:extLst>
                </a:gridCol>
                <a:gridCol w="836371">
                  <a:extLst>
                    <a:ext uri="{9D8B030D-6E8A-4147-A177-3AD203B41FA5}">
                      <a16:colId xmlns:a16="http://schemas.microsoft.com/office/drawing/2014/main" val="4160566306"/>
                    </a:ext>
                  </a:extLst>
                </a:gridCol>
                <a:gridCol w="867266">
                  <a:extLst>
                    <a:ext uri="{9D8B030D-6E8A-4147-A177-3AD203B41FA5}">
                      <a16:colId xmlns:a16="http://schemas.microsoft.com/office/drawing/2014/main" val="2663042803"/>
                    </a:ext>
                  </a:extLst>
                </a:gridCol>
                <a:gridCol w="643298">
                  <a:extLst>
                    <a:ext uri="{9D8B030D-6E8A-4147-A177-3AD203B41FA5}">
                      <a16:colId xmlns:a16="http://schemas.microsoft.com/office/drawing/2014/main" val="2622667202"/>
                    </a:ext>
                  </a:extLst>
                </a:gridCol>
                <a:gridCol w="836710">
                  <a:extLst>
                    <a:ext uri="{9D8B030D-6E8A-4147-A177-3AD203B41FA5}">
                      <a16:colId xmlns:a16="http://schemas.microsoft.com/office/drawing/2014/main" val="4143201019"/>
                    </a:ext>
                  </a:extLst>
                </a:gridCol>
                <a:gridCol w="810705">
                  <a:extLst>
                    <a:ext uri="{9D8B030D-6E8A-4147-A177-3AD203B41FA5}">
                      <a16:colId xmlns:a16="http://schemas.microsoft.com/office/drawing/2014/main" val="601777415"/>
                    </a:ext>
                  </a:extLst>
                </a:gridCol>
                <a:gridCol w="876693">
                  <a:extLst>
                    <a:ext uri="{9D8B030D-6E8A-4147-A177-3AD203B41FA5}">
                      <a16:colId xmlns:a16="http://schemas.microsoft.com/office/drawing/2014/main" val="2851622993"/>
                    </a:ext>
                  </a:extLst>
                </a:gridCol>
                <a:gridCol w="697583">
                  <a:extLst>
                    <a:ext uri="{9D8B030D-6E8A-4147-A177-3AD203B41FA5}">
                      <a16:colId xmlns:a16="http://schemas.microsoft.com/office/drawing/2014/main" val="57933757"/>
                    </a:ext>
                  </a:extLst>
                </a:gridCol>
                <a:gridCol w="622170">
                  <a:extLst>
                    <a:ext uri="{9D8B030D-6E8A-4147-A177-3AD203B41FA5}">
                      <a16:colId xmlns:a16="http://schemas.microsoft.com/office/drawing/2014/main" val="3864261935"/>
                    </a:ext>
                  </a:extLst>
                </a:gridCol>
              </a:tblGrid>
              <a:tr h="932910">
                <a:tc>
                  <a:txBody>
                    <a:bodyPr/>
                    <a:lstStyle/>
                    <a:p>
                      <a:pPr algn="ctr" fontAlgn="ctr"/>
                      <a:b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Model Name</a:t>
                      </a:r>
                      <a:endParaRPr lang="en-US" sz="12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loss</a:t>
                      </a:r>
                      <a:endParaRPr lang="en-US" sz="12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F1 Scores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precision</a:t>
                      </a:r>
                      <a:endParaRPr lang="en-US" sz="12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recall</a:t>
                      </a:r>
                      <a:endParaRPr lang="en-US" sz="12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latency</a:t>
                      </a:r>
                      <a:endParaRPr lang="en-US" sz="12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runtime</a:t>
                      </a:r>
                      <a:endParaRPr lang="en-US" sz="12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Samples/</a:t>
                      </a:r>
                    </a:p>
                    <a:p>
                      <a:pPr algn="ctr" fontAlgn="ctr"/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second</a:t>
                      </a:r>
                      <a:endParaRPr lang="en-US" sz="12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Steps/second</a:t>
                      </a:r>
                      <a:endParaRPr lang="en-US" sz="12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Epoch</a:t>
                      </a:r>
                      <a:endParaRPr lang="en-US" sz="12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4486307"/>
                  </a:ext>
                </a:extLst>
              </a:tr>
              <a:tr h="472934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0.063544</a:t>
                      </a:r>
                      <a:endParaRPr lang="en-AE" sz="1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0.9837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0.983489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0.983425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0.9837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0.010713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71.7853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139.304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8.707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1.0</a:t>
                      </a:r>
                      <a:endParaRPr lang="en-AE" sz="1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636125"/>
                  </a:ext>
                </a:extLst>
              </a:tr>
              <a:tr h="472934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DistilBERT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0.070151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0.9793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0.979069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0.979103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0.9793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0.021102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71.6437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139.580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8.724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1.0</a:t>
                      </a:r>
                      <a:endParaRPr lang="en-AE" sz="1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695159"/>
                  </a:ext>
                </a:extLst>
              </a:tr>
              <a:tr h="58306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ChatGPT-2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0.114259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0.9733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0.972986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0.973100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0.9733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0.010446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163.6402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61.110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7.639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1.0</a:t>
                      </a:r>
                      <a:endParaRPr lang="en-AE" sz="1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0769193"/>
                  </a:ext>
                </a:extLst>
              </a:tr>
              <a:tr h="472934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RoBERTa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0.245989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0.9559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0.955277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0.955431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0.9559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0.013138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44.1185</a:t>
                      </a:r>
                      <a:endParaRPr lang="en-AE" sz="1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226.663</a:t>
                      </a:r>
                      <a:endParaRPr lang="en-AE" sz="1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56.666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677258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6C2AFF7-2DD9-2F9A-F50C-81B61461F8D5}"/>
              </a:ext>
            </a:extLst>
          </p:cNvPr>
          <p:cNvSpPr txBox="1"/>
          <p:nvPr/>
        </p:nvSpPr>
        <p:spPr>
          <a:xfrm>
            <a:off x="80127" y="3889648"/>
            <a:ext cx="457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cap="none" dirty="0"/>
              <a:t>Evaluation Metrics: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cap="none" dirty="0"/>
              <a:t>Intent: Accuracy, F1-score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cap="none" dirty="0"/>
              <a:t>Entities: Precision, Recall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cap="none" dirty="0"/>
              <a:t>Response: BLEU Score, Coherence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cap="none" dirty="0"/>
              <a:t>Latency: Response Time Measurement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72EE59-8056-7E9C-A7B9-9BC07F86EF60}"/>
              </a:ext>
            </a:extLst>
          </p:cNvPr>
          <p:cNvSpPr txBox="1"/>
          <p:nvPr/>
        </p:nvSpPr>
        <p:spPr>
          <a:xfrm>
            <a:off x="4468306" y="3889648"/>
            <a:ext cx="459556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cap="none" dirty="0"/>
              <a:t>Common Errors: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cap="none" dirty="0"/>
              <a:t>Label Mismatch During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cap="none" dirty="0"/>
              <a:t>Tokenization Inconsistency</a:t>
            </a:r>
          </a:p>
        </p:txBody>
      </p:sp>
    </p:spTree>
    <p:extLst>
      <p:ext uri="{BB962C8B-B14F-4D97-AF65-F5344CB8AC3E}">
        <p14:creationId xmlns:p14="http://schemas.microsoft.com/office/powerpoint/2010/main" val="1074381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923730-192F-F1AB-4B8F-9B431CD90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85" y="336549"/>
            <a:ext cx="8001693" cy="516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290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DA3A40-CA87-C55D-E56B-89F194D4A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69" y="1192336"/>
            <a:ext cx="7178662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64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307" y="0"/>
            <a:ext cx="8611386" cy="1008668"/>
          </a:xfrm>
        </p:spPr>
        <p:txBody>
          <a:bodyPr>
            <a:noAutofit/>
          </a:bodyPr>
          <a:lstStyle/>
          <a:p>
            <a:r>
              <a:rPr lang="en-US" b="1" cap="none" dirty="0">
                <a:latin typeface="Georgia" panose="02040502050405020303" pitchFamily="18" charset="0"/>
              </a:rPr>
              <a:t>Deployment &amp; Inference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8375"/>
            <a:ext cx="7239000" cy="4846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cap="none" dirty="0">
                <a:latin typeface="Georgia" panose="02040502050405020303" pitchFamily="18" charset="0"/>
              </a:rPr>
              <a:t>Architecture Overview:</a:t>
            </a:r>
          </a:p>
          <a:p>
            <a:r>
              <a:rPr lang="en-US" cap="none" dirty="0">
                <a:latin typeface="Georgia" panose="02040502050405020303" pitchFamily="18" charset="0"/>
              </a:rPr>
              <a:t>- Web UI → Flask API → Model Inference</a:t>
            </a:r>
          </a:p>
          <a:p>
            <a:r>
              <a:rPr lang="en-US" cap="none" dirty="0">
                <a:latin typeface="Georgia" panose="02040502050405020303" pitchFamily="18" charset="0"/>
              </a:rPr>
              <a:t>- Intent Routes To FAQ Or GPT Response</a:t>
            </a:r>
          </a:p>
          <a:p>
            <a:pPr marL="0" indent="0">
              <a:buNone/>
            </a:pPr>
            <a:r>
              <a:rPr lang="en-US" b="1" cap="none" dirty="0">
                <a:latin typeface="Georgia" panose="02040502050405020303" pitchFamily="18" charset="0"/>
              </a:rPr>
              <a:t>Inference Example:</a:t>
            </a:r>
          </a:p>
          <a:p>
            <a:r>
              <a:rPr lang="en-US" cap="none" dirty="0" err="1">
                <a:latin typeface="Georgia" panose="02040502050405020303" pitchFamily="18" charset="0"/>
              </a:rPr>
              <a:t>Input_text</a:t>
            </a:r>
            <a:r>
              <a:rPr lang="en-US" cap="none" dirty="0">
                <a:latin typeface="Georgia" panose="02040502050405020303" pitchFamily="18" charset="0"/>
              </a:rPr>
              <a:t> = "I Lost My Debit Card"</a:t>
            </a:r>
          </a:p>
          <a:p>
            <a:r>
              <a:rPr lang="en-US" cap="none" dirty="0">
                <a:latin typeface="Georgia" panose="02040502050405020303" pitchFamily="18" charset="0"/>
              </a:rPr>
              <a:t>Inputs = Tokenizer(</a:t>
            </a:r>
            <a:r>
              <a:rPr lang="en-US" cap="none" dirty="0" err="1">
                <a:latin typeface="Georgia" panose="02040502050405020303" pitchFamily="18" charset="0"/>
              </a:rPr>
              <a:t>input_text</a:t>
            </a:r>
            <a:r>
              <a:rPr lang="en-US" cap="none" dirty="0">
                <a:latin typeface="Georgia" panose="02040502050405020303" pitchFamily="18" charset="0"/>
              </a:rPr>
              <a:t>, </a:t>
            </a:r>
            <a:r>
              <a:rPr lang="en-US" cap="none" dirty="0" err="1">
                <a:latin typeface="Georgia" panose="02040502050405020303" pitchFamily="18" charset="0"/>
              </a:rPr>
              <a:t>Return_tensors</a:t>
            </a:r>
            <a:r>
              <a:rPr lang="en-US" cap="none" dirty="0">
                <a:latin typeface="Georgia" panose="02040502050405020303" pitchFamily="18" charset="0"/>
              </a:rPr>
              <a:t>='pt')outputs = Model(**inputs)</a:t>
            </a:r>
          </a:p>
          <a:p>
            <a:pPr marL="0" indent="0">
              <a:buNone/>
            </a:pPr>
            <a:r>
              <a:rPr lang="en-US" b="1" cap="none" dirty="0">
                <a:latin typeface="Georgia" panose="02040502050405020303" pitchFamily="18" charset="0"/>
              </a:rPr>
              <a:t>Common Errors:</a:t>
            </a:r>
          </a:p>
          <a:p>
            <a:r>
              <a:rPr lang="en-US" cap="none" dirty="0">
                <a:latin typeface="Georgia" panose="02040502050405020303" pitchFamily="18" charset="0"/>
              </a:rPr>
              <a:t>- Flask Timeouts Due To Slow Inference</a:t>
            </a:r>
          </a:p>
          <a:p>
            <a:r>
              <a:rPr lang="en-US" cap="none" dirty="0">
                <a:latin typeface="Georgia" panose="02040502050405020303" pitchFamily="18" charset="0"/>
              </a:rPr>
              <a:t>- Token Overflow For Long Queries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3561"/>
            <a:ext cx="9144000" cy="773469"/>
          </a:xfrm>
        </p:spPr>
        <p:txBody>
          <a:bodyPr>
            <a:normAutofit/>
          </a:bodyPr>
          <a:lstStyle/>
          <a:p>
            <a:r>
              <a:rPr lang="en-US" b="1" cap="none" dirty="0">
                <a:latin typeface="Georgia" panose="02040502050405020303" pitchFamily="18" charset="0"/>
              </a:rPr>
              <a:t>Key Takeaways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7030"/>
            <a:ext cx="7239000" cy="54787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cap="none" dirty="0">
                <a:latin typeface="Georgia" panose="02040502050405020303" pitchFamily="18" charset="0"/>
              </a:rPr>
              <a:t>Lessons Learned:</a:t>
            </a:r>
          </a:p>
          <a:p>
            <a:r>
              <a:rPr lang="en-US" sz="1800" cap="none" dirty="0">
                <a:latin typeface="Georgia" panose="02040502050405020303" pitchFamily="18" charset="0"/>
              </a:rPr>
              <a:t>Ensure Consistent Preprocessing</a:t>
            </a:r>
          </a:p>
          <a:p>
            <a:r>
              <a:rPr lang="en-US" sz="1800" cap="none" dirty="0">
                <a:latin typeface="Georgia" panose="02040502050405020303" pitchFamily="18" charset="0"/>
              </a:rPr>
              <a:t>Transformers Need GPU For Efficiency</a:t>
            </a:r>
          </a:p>
          <a:p>
            <a:r>
              <a:rPr lang="en-US" sz="1800" cap="none" dirty="0">
                <a:latin typeface="Georgia" panose="02040502050405020303" pitchFamily="18" charset="0"/>
              </a:rPr>
              <a:t>Hugging Face Eases Model Usage</a:t>
            </a:r>
          </a:p>
          <a:p>
            <a:pPr marL="0" indent="0">
              <a:buNone/>
            </a:pPr>
            <a:r>
              <a:rPr lang="en-US" sz="1800" b="1" cap="none" dirty="0">
                <a:latin typeface="Georgia" panose="02040502050405020303" pitchFamily="18" charset="0"/>
              </a:rPr>
              <a:t>Future Improvements:</a:t>
            </a:r>
          </a:p>
          <a:p>
            <a:r>
              <a:rPr lang="en-US" sz="1800" cap="none" dirty="0">
                <a:latin typeface="Georgia" panose="02040502050405020303" pitchFamily="18" charset="0"/>
              </a:rPr>
              <a:t>Add RAG For Better Retrieval</a:t>
            </a:r>
          </a:p>
          <a:p>
            <a:r>
              <a:rPr lang="en-US" sz="1800" cap="none" dirty="0">
                <a:latin typeface="Georgia" panose="02040502050405020303" pitchFamily="18" charset="0"/>
              </a:rPr>
              <a:t>Multilingual Support</a:t>
            </a:r>
          </a:p>
          <a:p>
            <a:r>
              <a:rPr lang="en-US" sz="1800" cap="none" dirty="0">
                <a:latin typeface="Georgia" panose="02040502050405020303" pitchFamily="18" charset="0"/>
              </a:rPr>
              <a:t>Improve Latency With Quantization</a:t>
            </a:r>
          </a:p>
          <a:p>
            <a:pPr marL="0" indent="0">
              <a:buNone/>
            </a:pPr>
            <a:r>
              <a:rPr lang="en-US" sz="1800" b="1" cap="none" dirty="0">
                <a:latin typeface="Georgia" panose="02040502050405020303" pitchFamily="18" charset="0"/>
              </a:rPr>
              <a:t>Final Thought:</a:t>
            </a:r>
          </a:p>
          <a:p>
            <a:r>
              <a:rPr lang="en-US" sz="1800" cap="none" dirty="0">
                <a:latin typeface="Georgia" panose="02040502050405020303" pitchFamily="18" charset="0"/>
              </a:rPr>
              <a:t>Transformers Enable Scalable, Smart Banking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284</TotalTime>
  <Words>496</Words>
  <Application>Microsoft Office PowerPoint</Application>
  <PresentationFormat>On-screen Show (4:3)</PresentationFormat>
  <Paragraphs>157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</vt:lpstr>
      <vt:lpstr>Georgia</vt:lpstr>
      <vt:lpstr>Tw Cen MT</vt:lpstr>
      <vt:lpstr>Droplet</vt:lpstr>
      <vt:lpstr>Conversational AI Chatbot</vt:lpstr>
      <vt:lpstr>Building a Conversational AI Chatbot for Banking Customer Support</vt:lpstr>
      <vt:lpstr>Data Preparation &amp; Preprocessing</vt:lpstr>
      <vt:lpstr>Data analysis</vt:lpstr>
      <vt:lpstr>PowerPoint Presentation</vt:lpstr>
      <vt:lpstr>PowerPoint Presentation</vt:lpstr>
      <vt:lpstr>PowerPoint Presentation</vt:lpstr>
      <vt:lpstr>Model Building &amp; Fine-Tuning</vt:lpstr>
      <vt:lpstr>PowerPoint Presentation</vt:lpstr>
      <vt:lpstr>Evaluation &amp; Metrics</vt:lpstr>
      <vt:lpstr>PowerPoint Presentation</vt:lpstr>
      <vt:lpstr>PowerPoint Presentation</vt:lpstr>
      <vt:lpstr>Deployment &amp; Inference Pipeline</vt:lpstr>
      <vt:lpstr>Key Takeaways &amp; Future Work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Conversational AI Chatbot for Banking Customer Support</dc:title>
  <dc:creator>ADMIN</dc:creator>
  <dc:description>generated using python-pptx</dc:description>
  <cp:lastModifiedBy>Godfrey Sequeira</cp:lastModifiedBy>
  <cp:revision>11</cp:revision>
  <dcterms:created xsi:type="dcterms:W3CDTF">2013-01-27T09:14:16Z</dcterms:created>
  <dcterms:modified xsi:type="dcterms:W3CDTF">2025-04-14T18:00:33Z</dcterms:modified>
</cp:coreProperties>
</file>